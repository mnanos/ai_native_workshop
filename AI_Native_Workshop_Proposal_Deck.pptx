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926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658368"/>
            <a:ext cx="4160520" cy="5413248"/>
          </a:xfrm>
          <a:prstGeom prst="roundRect">
            <a:avLst>
              <a:gd name="adj" fmla="val 1758"/>
            </a:avLst>
          </a:prstGeom>
          <a:solidFill>
            <a:srgbClr val="173B63"/>
          </a:solidFill>
          <a:ln w="12700">
            <a:solidFill>
              <a:srgbClr val="4D6F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AI-Native Development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" y="2029968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9EFF8"/>
                </a:solidFill>
              </a:rPr>
              <a:t>Building a simple agentic application with open tools and local models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2542032"/>
            <a:ext cx="1965960" cy="347472"/>
          </a:xfrm>
          <a:prstGeom prst="roundRect">
            <a:avLst>
              <a:gd name="adj" fmla="val 47368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56946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1-hour online workshop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07208" y="2542032"/>
            <a:ext cx="1600200" cy="347472"/>
          </a:xfrm>
          <a:prstGeom prst="roundRect">
            <a:avLst>
              <a:gd name="adj" fmla="val 47368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07208" y="2569464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Use-case driven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98848" y="2542032"/>
            <a:ext cx="2514600" cy="347472"/>
          </a:xfrm>
          <a:prstGeom prst="roundRect">
            <a:avLst>
              <a:gd name="adj" fmla="val 47368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98848" y="2569464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paid subscription required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246120"/>
            <a:ext cx="5303520" cy="1993392"/>
          </a:xfrm>
          <a:prstGeom prst="roundRect">
            <a:avLst>
              <a:gd name="adj" fmla="val 367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50215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/>
              <a:t>What participants will build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3794760"/>
            <a:ext cx="4572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550" dirty="0"/>
              <a:t>A local AI lab assistant for short technical assignments</a:t>
            </a:r>
          </a:p>
          <a:p>
            <a:pPr marL="177800" indent="-177800">
              <a:buSzPct val="100000"/>
              <a:buChar char="•"/>
            </a:pPr>
            <a:r>
              <a:rPr lang="en-US" sz="1550" dirty="0"/>
              <a:t>A workflow with Planner, Builder, and Reviewer roles</a:t>
            </a:r>
          </a:p>
          <a:p>
            <a:pPr marL="177800" indent="-177800">
              <a:buSzPct val="100000"/>
              <a:buChar char="•"/>
            </a:pPr>
            <a:r>
              <a:rPr lang="en-US" sz="1550" dirty="0"/>
              <a:t>A small Python app that runs with Ollama on student laptops</a:t>
            </a:r>
          </a:p>
        </p:txBody>
      </p:sp>
      <p:sp>
        <p:nvSpPr>
          <p:cNvPr id="14" name="Text 12"/>
          <p:cNvSpPr/>
          <p:nvPr/>
        </p:nvSpPr>
        <p:spPr>
          <a:xfrm>
            <a:off x="7543800" y="932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Workshop architecture preview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73568" y="201168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46920" y="201168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646920" y="397764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73568" y="3977640"/>
            <a:ext cx="914400" cy="0"/>
          </a:xfrm>
          <a:prstGeom prst="line">
            <a:avLst/>
          </a:prstGeom>
          <a:noFill/>
          <a:ln w="12700">
            <a:solidFill>
              <a:srgbClr val="AFC6E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52360" y="157276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52360" y="1572768"/>
            <a:ext cx="82296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53528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53528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Task →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0" y="157276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0" y="1572768"/>
            <a:ext cx="82296" cy="86868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45168" y="17373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45168" y="208483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Plan → code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538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0" y="3538728"/>
            <a:ext cx="82296" cy="86868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45168" y="3703320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45168" y="405079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Code → gaps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52360" y="3538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52360" y="3538728"/>
            <a:ext cx="82296" cy="86868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53528" y="37033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Ollama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653528" y="4050792"/>
            <a:ext cx="1097280" cy="210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Local model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479792" y="489204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26680" y="50840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/>
              <a:t>Python • Streamlit/CLI • GitHub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/>
              <a:t>Open tools, fully reproducible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9808" y="6144768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 Electrical and Computer Engineering students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82296" cy="114300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Format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Online, hands-on, use-case driven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Built around one simple but complete example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5968" y="1143000"/>
            <a:ext cx="82296" cy="11430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17136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Audience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7136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ECE students with basic programming knowledge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Introductory to intermediate level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91856" y="114300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91856" y="114300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93024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Cost model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93024" y="1655064"/>
            <a:ext cx="324612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Open tools + local open models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No paid subscription required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2697480"/>
            <a:ext cx="10972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29077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E2A47"/>
                </a:solidFill>
              </a:rPr>
              <a:t>Core promise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1248" y="3734582"/>
            <a:ext cx="47548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02033"/>
                </a:solidFill>
              </a:rPr>
              <a:t>Students will not just hear about AI-native development. They will see a small AI-native system, run it locally, and understand how prompts, workflows, agents, tools, and context fit together in practice.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89320" y="3154680"/>
            <a:ext cx="5166360" cy="2240280"/>
          </a:xfrm>
          <a:prstGeom prst="roundRect">
            <a:avLst>
              <a:gd name="adj" fmla="val 3265"/>
            </a:avLst>
          </a:prstGeom>
          <a:solidFill>
            <a:srgbClr val="DCE8F8"/>
          </a:solidFill>
          <a:ln w="12700">
            <a:solidFill>
              <a:srgbClr val="DCE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3429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57A6"/>
                </a:solidFill>
              </a:rPr>
              <a:t>Success looks like this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0" y="3730752"/>
            <a:ext cx="44805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understand what AI-native development means.”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know the difference between a prompt, a workflow, and an agent.”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02033"/>
                </a:solidFill>
              </a:rPr>
              <a:t>“I can run a small local prototype myself.”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875520" y="3657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457A6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9844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Welcome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0–5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Why AI-native development matters and what participants will build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7860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6324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3016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3016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Concepts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5–15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954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Prompt vs workflow vs agent; tools, context, and orchestration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1032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9496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6188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6188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Use case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3212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15–20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4126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AI lab assistant architecture and role definitions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24204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2668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DCE8F8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93608" y="114300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9360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6384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Hands-on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6384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20–50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7298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Run the app, inspect Planner / Builder / Reviewer outputs, test locally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573768" y="3136392"/>
            <a:ext cx="237744" cy="310896"/>
          </a:xfrm>
          <a:prstGeom prst="chevron">
            <a:avLst/>
          </a:prstGeom>
          <a:solidFill>
            <a:srgbClr val="D8DFEA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058400" y="1828800"/>
            <a:ext cx="1783080" cy="3017520"/>
          </a:xfrm>
          <a:prstGeom prst="roundRect">
            <a:avLst>
              <a:gd name="adj" fmla="val 410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625328" y="1143000"/>
            <a:ext cx="640080" cy="640080"/>
          </a:xfrm>
          <a:prstGeom prst="ellipse">
            <a:avLst/>
          </a:prstGeom>
          <a:solidFill>
            <a:srgbClr val="2457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625328" y="1307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95560" y="20574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</a:rPr>
              <a:t>Wrap-up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95560" y="2395728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57A6"/>
                </a:solidFill>
              </a:rPr>
              <a:t>50–60 min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204704" y="2743200"/>
            <a:ext cx="1481328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776"/>
                </a:solidFill>
              </a:rPr>
              <a:t>What makes this AI-native and how to extend it after the session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560320" y="55321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033"/>
                </a:solidFill>
              </a:rPr>
              <a:t>One example, end to end: students see the complete lifecycle instead of isolated prompts.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use case: AI Lab Assistant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794760" cy="50292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</a:rPr>
              <a:t>Student input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3246120" cy="2971800"/>
          </a:xfrm>
          <a:prstGeom prst="roundRect">
            <a:avLst>
              <a:gd name="adj" fmla="val 1846"/>
            </a:avLst>
          </a:prstGeom>
          <a:solidFill>
            <a:srgbClr val="F8FAFE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2103120"/>
            <a:ext cx="2926080" cy="2286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02033"/>
                </a:solidFill>
              </a:rPr>
              <a:t>“Build a Python program that reads sensor measurements from a CSV file, computes the average and standard deviation, and generates a simple plot.”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776"/>
                </a:solidFill>
              </a:rPr>
              <a:t>A compact example that is technical, familiar, and easy to run locally.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417320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38928" y="1545336"/>
            <a:ext cx="384048" cy="384048"/>
          </a:xfrm>
          <a:prstGeom prst="ellipse">
            <a:avLst/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38928" y="1636776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536192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Understand the task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83880" y="154533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Requirement extraction from the assignment text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2304288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38928" y="2432304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38928" y="2523744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423160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Create a plan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83880" y="243230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Ordered implementation steps and assumptions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191256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3319272"/>
            <a:ext cx="384048" cy="38404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38928" y="3410712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31012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Generate starter code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183880" y="33192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First-draft code and project structure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4078224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138928" y="4206240"/>
            <a:ext cx="384048" cy="384048"/>
          </a:xfrm>
          <a:prstGeom prst="ellipse">
            <a:avLst/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38928" y="4297680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4197096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Review the output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183880" y="420624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Check coverage, gaps, and edge cases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965192"/>
            <a:ext cx="6309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138928" y="5093208"/>
            <a:ext cx="384048" cy="38404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38928" y="5184648"/>
            <a:ext cx="384048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0" y="5084064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2A47"/>
                </a:solidFill>
              </a:rPr>
              <a:t>Suggest next steps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183880" y="509320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776"/>
                </a:solidFill>
              </a:rPr>
              <a:t>Concrete improvements students can implement next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prompt to workflow to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82296" cy="274320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2412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A single instruction to the model.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Useful for one-shot tasks, but limited when the task has multiple stages.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417320"/>
            <a:ext cx="82296" cy="2743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7316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A predefined sequence of steps.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Best default choice when the application needs structure and predictability.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417320"/>
            <a:ext cx="3246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1417320"/>
            <a:ext cx="82296" cy="27432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22208" y="1581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Agentic pattern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22208" y="1929384"/>
            <a:ext cx="2926080" cy="2084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Role-based components within a workflow.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Useful when different reasoning styles or tool access improve the result.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306824"/>
            <a:ext cx="104241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</a:rPr>
              <a:t>Key message: not everything needs an agent. 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</a:rPr>
              <a:t>Start with a workflow, then add roles only where they create real value.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69848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5440680"/>
            <a:ext cx="82296" cy="77724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98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20724" y="5971032"/>
            <a:ext cx="31089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Breaks the task into requirements and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26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26280" y="5440680"/>
            <a:ext cx="82296" cy="7772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27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27448" y="5952744"/>
            <a:ext cx="288036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Produces starter code and a first draft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544068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0" y="5440680"/>
            <a:ext cx="82296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56448" y="560527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56448" y="5952744"/>
            <a:ext cx="299923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Checks coverage, risks, and improvements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31720" y="3456432"/>
            <a:ext cx="914400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V="1">
            <a:off x="4800600" y="2304287"/>
            <a:ext cx="914400" cy="1124709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800600" y="3474724"/>
            <a:ext cx="914400" cy="1115564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269480" y="2717804"/>
            <a:ext cx="914400" cy="923544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743200"/>
            <a:ext cx="82296" cy="1417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User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Provides the assignment or short technical task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2743200"/>
            <a:ext cx="82296" cy="141732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4728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Coordinator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4728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Runs the workflow and passes outputs across roles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715000" y="1600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15000" y="1600200"/>
            <a:ext cx="82296" cy="1417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16168" y="1764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Planner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16168" y="2112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Requirements + steps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715000" y="3886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15000" y="3886200"/>
            <a:ext cx="82296" cy="1417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16168" y="4050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Builder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16168" y="4398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Starter code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8388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83880" y="2743200"/>
            <a:ext cx="82296" cy="1417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85048" y="290779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Reviewer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85048" y="3255264"/>
            <a:ext cx="123444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Coverage + improvements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104120" y="2743200"/>
            <a:ext cx="1234440" cy="14173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04120" y="2743200"/>
            <a:ext cx="82296" cy="1417320"/>
          </a:xfrm>
          <a:prstGeom prst="rect">
            <a:avLst/>
          </a:prstGeom>
          <a:solidFill>
            <a:srgbClr val="0E2A47"/>
          </a:solidFill>
          <a:ln w="12700">
            <a:solidFill>
              <a:srgbClr val="0E2A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05288" y="29077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Output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305288" y="3255264"/>
            <a:ext cx="914400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Plan, code, review, next steps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41248" y="548640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97280" y="5650992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2033"/>
                </a:solidFill>
              </a:rPr>
              <a:t>Local execution stack: Python + Streamlit/CLI + Ollama + one local open model (for example Llama 3).</a:t>
            </a:r>
            <a:endParaRPr lang="en-US" sz="16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2C4412C0-9400-909E-5E9D-A8D27B8FB47B}"/>
              </a:ext>
            </a:extLst>
          </p:cNvPr>
          <p:cNvSpPr/>
          <p:nvPr/>
        </p:nvSpPr>
        <p:spPr>
          <a:xfrm flipV="1">
            <a:off x="7269480" y="3641348"/>
            <a:ext cx="914400" cy="959491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BC038EAC-B9F0-EA67-6D96-8362371A4466}"/>
              </a:ext>
            </a:extLst>
          </p:cNvPr>
          <p:cNvSpPr/>
          <p:nvPr/>
        </p:nvSpPr>
        <p:spPr>
          <a:xfrm flipV="1">
            <a:off x="9742932" y="3486433"/>
            <a:ext cx="361188" cy="0"/>
          </a:xfrm>
          <a:prstGeom prst="line">
            <a:avLst/>
          </a:prstGeom>
          <a:noFill/>
          <a:ln w="12700">
            <a:solidFill>
              <a:srgbClr val="2457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stack and local setup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82296" cy="2560320"/>
          </a:xfrm>
          <a:prstGeom prst="rect">
            <a:avLst/>
          </a:prstGeom>
          <a:solidFill>
            <a:srgbClr val="2457A6"/>
          </a:solidFill>
          <a:ln w="12700">
            <a:solidFill>
              <a:srgbClr val="245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3990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Tools used in the workshop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1746504"/>
            <a:ext cx="333756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Python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Streamlit or CLI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GitHub repository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Ollama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One tested local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26280" y="1234440"/>
            <a:ext cx="3246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82296" cy="2560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27448" y="139903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Why local 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1746504"/>
            <a:ext cx="292608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No paid subscription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Full reproducibility after the workshop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Students can experiment on their own laptops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Clearer focus on architecture, not vendor lock-in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9560" y="1234440"/>
            <a:ext cx="35204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blurRad="1270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09560" y="1234440"/>
            <a:ext cx="82296" cy="25603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10728" y="1399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Minimum participant setup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10728" y="1746504"/>
            <a:ext cx="3200400" cy="1901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Python 3.10+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Git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VS Code or another editor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Ollama installed locally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5B6776"/>
                </a:solidFill>
              </a:rPr>
              <a:t>• Repo cloned before the session if possible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416052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" y="4102649"/>
            <a:ext cx="3794760" cy="4632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</a:rPr>
              <a:t>Suggested commands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4681728"/>
            <a:ext cx="4572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776"/>
                </a:solidFill>
              </a:rPr>
              <a:t>This can also be run as a CLI fallback if some student laptops struggle with a UI setup.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2A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participants take away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04672"/>
            <a:ext cx="11155680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6"/>
                </a:solidFill>
              </a:rPr>
              <a:t>1-hour online workshop package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0" y="64739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6"/>
                </a:solidFill>
              </a:rPr>
              <a:t>Open tools • local models • no paid subscription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1344168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1463040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426464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What AI-native development means in practice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203704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32688" y="2313432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432304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Conceptual clarity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39572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The difference between prompts, workflows, and agents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7240" y="3172968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32688" y="3282696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32688" y="3401568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Hands-on artifact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80360" y="3364992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A small local app with Planner, Builder, and Reviewer roles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4142232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" y="4251960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32688" y="4370832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confidence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433425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A reproducible stack based on open tools and local models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77240" y="5111496"/>
            <a:ext cx="106984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2688" y="5221224"/>
            <a:ext cx="1691640" cy="475488"/>
          </a:xfrm>
          <a:prstGeom prst="roundRect">
            <a:avLst>
              <a:gd name="adj" fmla="val 34615"/>
            </a:avLst>
          </a:prstGeom>
          <a:solidFill>
            <a:srgbClr val="2457A6"/>
          </a:solidFill>
          <a:ln w="12700">
            <a:solidFill>
              <a:srgbClr val="2457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2688" y="5340096"/>
            <a:ext cx="1691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530352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02033"/>
                </a:solidFill>
              </a:rPr>
              <a:t>Clear directions for adding retrieval, testing, memory, or APIs later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6172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</a:rPr>
              <a:t>Recommended close: position the session as “a practical introduction to AI-native development through a small but complete role-based application built with open tools and local models.”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901</Words>
  <Application>Microsoft Office PowerPoint</Application>
  <PresentationFormat>Widescreen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AI-Native Development in Practice</dc:title>
  <dc:subject>AI-Native Development Workshop</dc:subject>
  <dc:creator>OpenAI</dc:creator>
  <cp:lastModifiedBy>Michail Nanos</cp:lastModifiedBy>
  <cp:revision>3</cp:revision>
  <dcterms:created xsi:type="dcterms:W3CDTF">2026-04-02T07:39:00Z</dcterms:created>
  <dcterms:modified xsi:type="dcterms:W3CDTF">2026-04-02T07:51:59Z</dcterms:modified>
</cp:coreProperties>
</file>