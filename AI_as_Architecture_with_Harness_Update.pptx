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10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4561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arXiv 2604.08224: https://arxiv.org/abs/2604.08224
- Daily Dose of DS, "The Anatomy of an Agent Harness," Apr 7 2026: https://www.dailydoseofds.com/p/the-anatomy-of-an-agent-harness/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arXiv 2604.08224: https://arxiv.org/abs/2604.08224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Zhou et al., Externalization in LLM Agents: A Unified Review of Memory, Skills, Protocols and Harness Engineering, arXiv:2604.08224, Apr 9 2026: https://arxiv.org/abs/2604.08224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Daily Dose of DS, "The Anatomy of an Agent Harness," Apr 7 2026: https://www.dailydoseofds.com/p/the-anatomy-of-an-agent-harness/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arXiv 2604.08224: https://arxiv.org/abs/2604.08224
- Daily Dose of DS, "The Anatomy of an Agent Harness," Apr 7 2026: https://www.dailydoseofds.com/p/the-anatomy-of-an-agent-harness/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as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5"/>
                </a:solidFill>
              </a:rPr>
              <a:t>Using the agent harness concept to strengthen the evolution story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D8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55853"/>
            <a:ext cx="94889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68"/>
                </a:solidFill>
              </a:rPr>
              <a:t>The shift is no longer just model → feature. It is model → system.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F64C5"/>
                </a:solidFill>
              </a:rPr>
              <a:t>AI as Interface</a:t>
            </a:r>
            <a:r>
              <a:rPr lang="en-US" sz="2000" dirty="0">
                <a:solidFill>
                  <a:srgbClr val="5B6575"/>
                </a:solidFill>
              </a:rPr>
              <a:t>  →  </a:t>
            </a:r>
            <a:r>
              <a:rPr lang="en-US" sz="2000" b="1" dirty="0">
                <a:solidFill>
                  <a:srgbClr val="5F8F4E"/>
                </a:solidFill>
              </a:rPr>
              <a:t>AI as Feature</a:t>
            </a:r>
            <a:r>
              <a:rPr lang="en-US" sz="2000" dirty="0">
                <a:solidFill>
                  <a:srgbClr val="5B6575"/>
                </a:solidFill>
              </a:rPr>
              <a:t>  →  </a:t>
            </a:r>
            <a:r>
              <a:rPr lang="en-US" sz="2000" b="1" dirty="0">
                <a:solidFill>
                  <a:srgbClr val="D98324"/>
                </a:solidFill>
              </a:rPr>
              <a:t>AI as Architecture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64008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</a:rPr>
              <a:t>What the new research and practitioner literature now make clear is that more system capability lives outside the model itself: in orchestration, tools, memory, context management, verification, and guardrails.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861717" y="1920240"/>
            <a:ext cx="3383280" cy="3474720"/>
          </a:xfrm>
          <a:prstGeom prst="roundRect">
            <a:avLst>
              <a:gd name="adj" fmla="val 2162"/>
            </a:avLst>
          </a:prstGeom>
          <a:solidFill>
            <a:srgbClr val="EAF8F7"/>
          </a:solidFill>
          <a:ln w="12700">
            <a:solidFill>
              <a:srgbClr val="B8E3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66060" y="2466951"/>
            <a:ext cx="26517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F3A68"/>
                </a:solidFill>
              </a:rPr>
              <a:t>System Value</a:t>
            </a:r>
            <a:endParaRPr lang="en-US" sz="2300" dirty="0"/>
          </a:p>
          <a:p>
            <a:pPr marL="0" indent="0" algn="ctr">
              <a:buNone/>
            </a:pP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1F3A68"/>
                </a:solidFill>
              </a:rPr>
              <a:t>Model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1F3A68"/>
                </a:solidFill>
              </a:rPr>
              <a:t>+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1F3A68"/>
                </a:solidFill>
              </a:rPr>
              <a:t>Harness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1F3A68"/>
                </a:solidFill>
              </a:rPr>
              <a:t>+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1F3A68"/>
                </a:solidFill>
              </a:rPr>
              <a:t>Workflow</a:t>
            </a:r>
            <a:endParaRPr lang="en-US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Three-layer AI evolution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5"/>
                </a:solidFill>
              </a:rPr>
              <a:t>A clearer framing for the transition from chatbots to AI-native systems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D8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38328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19050" dist="127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383280" cy="566928"/>
          </a:xfrm>
          <a:prstGeom prst="roundRect">
            <a:avLst>
              <a:gd name="adj" fmla="val 16129"/>
            </a:avLst>
          </a:prstGeom>
          <a:solidFill>
            <a:srgbClr val="2F64C5"/>
          </a:solidFill>
          <a:ln w="12700">
            <a:solidFill>
              <a:srgbClr val="2F64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1536192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AI as Interface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87552" y="2167128"/>
            <a:ext cx="292608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Chatbots and assistants for direct user interaction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Main unit of value: prompt and response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Good for guidance, Q&amp;A, and ideation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38328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19050" dist="127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89120" y="1417320"/>
            <a:ext cx="3383280" cy="566928"/>
          </a:xfrm>
          <a:prstGeom prst="roundRect">
            <a:avLst>
              <a:gd name="adj" fmla="val 16129"/>
            </a:avLst>
          </a:prstGeom>
          <a:solidFill>
            <a:srgbClr val="5F8F4E"/>
          </a:solidFill>
          <a:ln w="12700">
            <a:solidFill>
              <a:srgbClr val="5F8F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53712" y="1536192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AI as Feature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45152" y="2167128"/>
            <a:ext cx="292608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AI embedded into existing products and workflows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Main unit of value: AI-powered feature or service call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Good for search, support, recommendations, code help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338328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19050" dist="127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46720" y="1417320"/>
            <a:ext cx="3383280" cy="566928"/>
          </a:xfrm>
          <a:prstGeom prst="roundRect">
            <a:avLst>
              <a:gd name="adj" fmla="val 16129"/>
            </a:avLst>
          </a:prstGeom>
          <a:solidFill>
            <a:srgbClr val="D98324"/>
          </a:solidFill>
          <a:ln w="12700">
            <a:solidFill>
              <a:srgbClr val="D983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11312" y="1536192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AI as Architecture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02752" y="2167128"/>
            <a:ext cx="292608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Applications designed around workflows, roles, tools, and context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Main unit of value: orchestrated system behavior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Good for agentic, adaptive, multi-step applications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97280" y="498348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A68"/>
                </a:solidFill>
              </a:rPr>
              <a:t>The key move is from talking to AI, to embedding AI, to building around AI.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signal: from weights to context to harness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5"/>
                </a:solidFill>
              </a:rPr>
              <a:t>Why AI as architecture is not just a slogan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D8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EAF1FF"/>
          </a:solidFill>
          <a:ln w="12700">
            <a:solidFill>
              <a:srgbClr val="2F64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2084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64C5"/>
                </a:solidFill>
              </a:rPr>
              <a:t>Weights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2587752"/>
            <a:ext cx="22860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F2937"/>
                </a:solidFill>
              </a:rPr>
              <a:t>Capability expected to live mainly inside the model.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EAF8F7"/>
          </a:solidFill>
          <a:ln w="12700">
            <a:solidFill>
              <a:srgbClr val="2D8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80560" y="2084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8C8A"/>
                </a:solidFill>
              </a:rPr>
              <a:t>Context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480560" y="2587752"/>
            <a:ext cx="22860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F2937"/>
                </a:solidFill>
              </a:rPr>
              <a:t>Capability improved by prompting, examples, and better context selection.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680960" y="182880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2E3"/>
          </a:solidFill>
          <a:ln w="12700">
            <a:solidFill>
              <a:srgbClr val="D983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863840" y="2084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8324"/>
                </a:solidFill>
              </a:rPr>
              <a:t>Harness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863840" y="2587752"/>
            <a:ext cx="22860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F2937"/>
                </a:solidFill>
              </a:rPr>
              <a:t>Capability increasingly externalized into memory, skills, protocols, and system infrastructure.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61188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B6575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9516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B6575"/>
                </a:solidFill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111890" y="4416127"/>
            <a:ext cx="11871767" cy="91208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0" y="4525701"/>
            <a:ext cx="12080110" cy="45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3A68"/>
                </a:solidFill>
              </a:rPr>
              <a:t>Takeaway: more intelligence now lives in the system around the model, not only in the model itself.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an agent harness actually contains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5"/>
                </a:solidFill>
              </a:rPr>
              <a:t>A practitioner view that makes the architecture concrete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D8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493776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19050" dist="127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4937760" cy="566928"/>
          </a:xfrm>
          <a:prstGeom prst="roundRect">
            <a:avLst>
              <a:gd name="adj" fmla="val 16129"/>
            </a:avLst>
          </a:prstGeom>
          <a:solidFill>
            <a:srgbClr val="2D8C8A"/>
          </a:solidFill>
          <a:ln w="12700">
            <a:solidFill>
              <a:srgbClr val="2D8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87552" y="1627632"/>
            <a:ext cx="4608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Core harness components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8992" y="2258568"/>
            <a:ext cx="448056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Orchestration loop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Tools and tool schemas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Memory across timescales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Context management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Prompt construction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Output parsing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172200" y="1508760"/>
            <a:ext cx="457200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19050" dist="127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72200" y="1508760"/>
            <a:ext cx="4572000" cy="566928"/>
          </a:xfrm>
          <a:prstGeom prst="roundRect">
            <a:avLst>
              <a:gd name="adj" fmla="val 16129"/>
            </a:avLst>
          </a:prstGeom>
          <a:solidFill>
            <a:srgbClr val="D98324"/>
          </a:solidFill>
          <a:ln w="12700">
            <a:solidFill>
              <a:srgbClr val="D983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36792" y="1627632"/>
            <a:ext cx="4242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Production qualities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28232" y="2258568"/>
            <a:ext cx="411480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State management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Error handling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Guardrails and permissions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Verification loops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Subagent orchestration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9757" y="5303519"/>
            <a:ext cx="11150277" cy="595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A68"/>
                </a:solidFill>
              </a:rPr>
              <a:t>This is why “AI as architecture” matters: the harness turns a raw model into a reliable system.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Hands-on example: same task, three system designs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5"/>
                </a:solidFill>
              </a:rPr>
              <a:t>Student assignment assistant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D8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566160" cy="36576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19050" dist="127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566160" cy="566928"/>
          </a:xfrm>
          <a:prstGeom prst="roundRect">
            <a:avLst>
              <a:gd name="adj" fmla="val 16129"/>
            </a:avLst>
          </a:prstGeom>
          <a:solidFill>
            <a:srgbClr val="2F64C5"/>
          </a:solidFill>
          <a:ln w="12700">
            <a:solidFill>
              <a:srgbClr val="2F64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Chatbot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96112" y="2212848"/>
            <a:ext cx="310896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Student asks once: “Help me solve this task.”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Model returns explanation and code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Best framing: AI as interface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66160" cy="36576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19050" dist="127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43400" y="1463040"/>
            <a:ext cx="3566160" cy="566928"/>
          </a:xfrm>
          <a:prstGeom prst="roundRect">
            <a:avLst>
              <a:gd name="adj" fmla="val 16129"/>
            </a:avLst>
          </a:prstGeom>
          <a:solidFill>
            <a:srgbClr val="5F8F4E"/>
          </a:solidFill>
          <a:ln w="12700">
            <a:solidFill>
              <a:srgbClr val="5F8F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07992" y="1581912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Service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99432" y="2212848"/>
            <a:ext cx="310896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Student clicks “Generate starter code” inside an app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Application calls an LLM as one feature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Best framing: AI as feature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66160" cy="36576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19050" dist="127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566160" cy="566928"/>
          </a:xfrm>
          <a:prstGeom prst="roundRect">
            <a:avLst>
              <a:gd name="adj" fmla="val 16129"/>
            </a:avLst>
          </a:prstGeom>
          <a:solidFill>
            <a:srgbClr val="D98324"/>
          </a:solidFill>
          <a:ln w="12700">
            <a:solidFill>
              <a:srgbClr val="D983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11312" y="1581912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Architecture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02752" y="2212848"/>
            <a:ext cx="310896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Planner extracts requirements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Builder creates solution draft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Reviewer checks gaps and next steps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828800" y="53949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A68"/>
                </a:solidFill>
              </a:rPr>
              <a:t>Same task. Different role for AI in the system.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Bottom 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5"/>
                </a:solidFill>
              </a:rPr>
              <a:t>A concise message for the audience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D8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9599" y="1780536"/>
            <a:ext cx="5262623" cy="479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64C5"/>
                </a:solidFill>
              </a:rPr>
              <a:t>We started by talking to AI.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09599" y="2849327"/>
            <a:ext cx="5551990" cy="336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F8F4E"/>
                </a:solidFill>
              </a:rPr>
              <a:t>Then we added AI into products.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6689" y="3469415"/>
            <a:ext cx="8046720" cy="10600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8324"/>
                </a:solidFill>
              </a:rPr>
              <a:t>Now we are learning to build products around AI.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168254" y="1692797"/>
            <a:ext cx="3931149" cy="21488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01023" y="2076015"/>
            <a:ext cx="4965540" cy="1060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A68"/>
                </a:solidFill>
              </a:rPr>
              <a:t>AI as architecture =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F3A68"/>
                </a:solidFill>
              </a:rPr>
              <a:t>model + harness + workflow + governance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63615" y="4925029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A68"/>
                </a:solidFill>
              </a:rPr>
              <a:t>This is the foundation of AI-native development.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699</Words>
  <Application>Microsoft Office PowerPoint</Application>
  <PresentationFormat>Widescreen</PresentationFormat>
  <Paragraphs>88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as Architecture — Harness Update</dc:title>
  <dc:subject>AI as Architecture with Agent Harness</dc:subject>
  <dc:creator>OpenAI</dc:creator>
  <cp:lastModifiedBy>Michail Nanos</cp:lastModifiedBy>
  <cp:revision>3</cp:revision>
  <dcterms:created xsi:type="dcterms:W3CDTF">2026-04-17T08:28:46Z</dcterms:created>
  <dcterms:modified xsi:type="dcterms:W3CDTF">2026-04-17T08:46:42Z</dcterms:modified>
</cp:coreProperties>
</file>