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arXiv 2604.08224: https://arxiv.org/abs/2604.08224
- Daily Dose of DS, "The Anatomy of an Agent Harness," Apr 7 2026: https://www.dailydoseofds.com/p/the-anatomy-of-an-agent-harness/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arXiv 2604.08224: https://arxiv.org/abs/2604.08224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Zhou et al., Externalization in LLM Agents: A Unified Review of Memory, Skills, Protocols and Harness Engineering, arXiv:2604.08224, Apr 9 2026: https://arxiv.org/abs/2604.08224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Daily Dose of DS, "The Anatomy of an Agent Harness," Apr 7 2026: https://www.dailydoseofds.com/p/the-anatomy-of-an-agent-harness/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arXiv 2604.08224: https://arxiv.org/abs/2604.08224
- Daily Dose of DS, "The Anatomy of an Agent Harness," Apr 7 2026: https://www.dailydoseofds.com/p/the-anatomy-of-an-agent-harness/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as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Using the agent harness concept to strengthen the evolution story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68"/>
                </a:solidFill>
              </a:rPr>
              <a:t>The shift is no longer just model → feature. It is model → system.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64C5"/>
                </a:solidFill>
              </a:rPr>
              <a:t>AI as Interface</a:t>
            </a:r>
            <a:pPr algn="l" indent="0" marL="0">
              <a:buNone/>
            </a:pPr>
            <a:r>
              <a:rPr lang="en-US" sz="2000" dirty="0">
                <a:solidFill>
                  <a:srgbClr val="5B6575"/>
                </a:solidFill>
              </a:rPr>
              <a:t>  →  </a:t>
            </a:r>
            <a:pPr algn="l" indent="0" marL="0">
              <a:buNone/>
            </a:pPr>
            <a:r>
              <a:rPr lang="en-US" sz="2000" b="1" dirty="0">
                <a:solidFill>
                  <a:srgbClr val="5F8F4E"/>
                </a:solidFill>
              </a:rPr>
              <a:t>AI as Feature</a:t>
            </a:r>
            <a:pPr algn="l" indent="0" marL="0">
              <a:buNone/>
            </a:pPr>
            <a:r>
              <a:rPr lang="en-US" sz="2000" dirty="0">
                <a:solidFill>
                  <a:srgbClr val="5B6575"/>
                </a:solidFill>
              </a:rPr>
              <a:t>  →  </a:t>
            </a:r>
            <a:pPr algn="l" indent="0" marL="0">
              <a:buNone/>
            </a:pPr>
            <a:r>
              <a:rPr lang="en-US" sz="2000" b="1" dirty="0">
                <a:solidFill>
                  <a:srgbClr val="D98324"/>
                </a:solidFill>
              </a:rPr>
              <a:t>AI as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6400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</a:rPr>
              <a:t>What the new research and practitioner literature now make clear is that more system capability lives outside the model itself: in orchestration, tools, memory, context management, verification, and guardrails.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726680" y="1600200"/>
            <a:ext cx="3383280" cy="3474720"/>
          </a:xfrm>
          <a:prstGeom prst="roundRect">
            <a:avLst>
              <a:gd name="adj" fmla="val 2162"/>
            </a:avLst>
          </a:prstGeom>
          <a:solidFill>
            <a:srgbClr val="EAF8F7"/>
          </a:solidFill>
          <a:ln w="12700">
            <a:solidFill>
              <a:srgbClr val="B8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2011680"/>
            <a:ext cx="26517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System Value</a:t>
            </a:r>
            <a:endParaRPr lang="en-US" sz="2300" dirty="0"/>
          </a:p>
          <a:p>
            <a:pPr algn="ctr" indent="0" marL="0">
              <a:buNone/>
            </a:pP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Model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Harness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+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F3A68"/>
                </a:solidFill>
              </a:rPr>
              <a:t>Workflow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Three-layer AI evolution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A clearer framing for the transition from chatbots to AI-native systems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17320"/>
            <a:ext cx="3383280" cy="566928"/>
          </a:xfrm>
          <a:prstGeom prst="roundRect">
            <a:avLst>
              <a:gd name="adj" fmla="val 16129"/>
            </a:avLst>
          </a:prstGeom>
          <a:solidFill>
            <a:srgbClr val="2F64C5"/>
          </a:solidFill>
          <a:ln w="12700">
            <a:solidFill>
              <a:srgbClr val="2F64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36192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as Interface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7552" y="2167128"/>
            <a:ext cx="292608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Chatbots and assistants for direct user interaction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Main unit of value: prompt and response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Good for guidance, Q&amp;A, and ideation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417320"/>
            <a:ext cx="3383280" cy="566928"/>
          </a:xfrm>
          <a:prstGeom prst="roundRect">
            <a:avLst>
              <a:gd name="adj" fmla="val 16129"/>
            </a:avLst>
          </a:prstGeom>
          <a:solidFill>
            <a:srgbClr val="5F8F4E"/>
          </a:solidFill>
          <a:ln w="12700">
            <a:solidFill>
              <a:srgbClr val="5F8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536192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as Feature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167128"/>
            <a:ext cx="292608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AI embedded into existing products and workflows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Main unit of value: AI-powered feature or service call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Good for search, support, recommendations, code help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3832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17320"/>
            <a:ext cx="3383280" cy="566928"/>
          </a:xfrm>
          <a:prstGeom prst="roundRect">
            <a:avLst>
              <a:gd name="adj" fmla="val 16129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536192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as Architecture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02752" y="2167128"/>
            <a:ext cx="292608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Applications designed around workflows, roles, tools, and context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Main unit of value: orchestrated system behavior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Good for agentic, adaptive, multi-step applications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97280" y="498348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68"/>
                </a:solidFill>
              </a:rPr>
              <a:t>The key move is from talking to AI, to embedding AI, to building around AI.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signal: from weights to context to harness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Why AI as architecture is not just a slogan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288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AF1FF"/>
          </a:solidFill>
          <a:ln w="12700">
            <a:solidFill>
              <a:srgbClr val="2F64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848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64C5"/>
                </a:solidFill>
              </a:rPr>
              <a:t>Weights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2587752"/>
            <a:ext cx="22860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F2937"/>
                </a:solidFill>
              </a:rPr>
              <a:t>Capability expected to live mainly inside the model.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AF8F7"/>
          </a:solidFill>
          <a:ln w="12700">
            <a:solidFill>
              <a:srgbClr val="2D8C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0848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8C8A"/>
                </a:solidFill>
              </a:rPr>
              <a:t>Context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587752"/>
            <a:ext cx="22860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F2937"/>
                </a:solidFill>
              </a:rPr>
              <a:t>Capability improved by prompting, examples, and better context selection.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680960" y="18288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FFF2E3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0" y="20848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8324"/>
                </a:solidFill>
              </a:rPr>
              <a:t>Harness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863840" y="2587752"/>
            <a:ext cx="22860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F2937"/>
                </a:solidFill>
              </a:rPr>
              <a:t>Capability increasingly externalized into memory, skills, protocols, and system infrastructure.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1188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575"/>
                </a:solidFill>
              </a:rPr>
              <a:t>→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9516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575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097280" y="4389120"/>
            <a:ext cx="9966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5880" y="463600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3A68"/>
                </a:solidFill>
              </a:rPr>
              <a:t>Takeaway: more intelligence now lives in the system around the model, not only in the model itself.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an agent harness actually contains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A practitioner view that makes the architecture concrete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760"/>
            <a:ext cx="493776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508760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2D8C8A"/>
          </a:solidFill>
          <a:ln w="12700">
            <a:solidFill>
              <a:srgbClr val="2D8C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627632"/>
            <a:ext cx="4608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Core harness components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2258568"/>
            <a:ext cx="448056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Orchestration loop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Tools and tool schemas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Memory across timescales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Context management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Prompt construction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Output parsing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457200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72200" y="150876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6792" y="1627632"/>
            <a:ext cx="4242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Production qualities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28232" y="2258568"/>
            <a:ext cx="411480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State management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Error handling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Guardrails and permissions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Verification loops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Subagent orchestration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914400" y="53035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68"/>
                </a:solidFill>
              </a:rPr>
              <a:t>This is why “AI as architecture” matters: the harness turns a raw model into a reliable system.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Hands-on example: same task, three system designs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Student assignment assistant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2F64C5"/>
          </a:solidFill>
          <a:ln w="12700">
            <a:solidFill>
              <a:srgbClr val="2F64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581912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Chatbot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212848"/>
            <a:ext cx="31089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Student asks once: “Help me solve this task.”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Model returns explanation and code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Best framing: AI as interface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5F8F4E"/>
          </a:solidFill>
          <a:ln w="12700">
            <a:solidFill>
              <a:srgbClr val="5F8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1581912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Service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1089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Student clicks “Generate starter code” inside an app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Application calls an LLM as one feature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Best framing: AI as feature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581912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Architecture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02752" y="2212848"/>
            <a:ext cx="310896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Planner extracts requirements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Builder creates solution draft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F2937"/>
                </a:solidFill>
              </a:rPr>
              <a:t>Reviewer checks gaps and next steps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828800" y="53949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68"/>
                </a:solidFill>
              </a:rPr>
              <a:t>Same task. Different role for AI in the system.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Bottom 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5"/>
                </a:solidFill>
              </a:rPr>
              <a:t>A concise message for the audience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D8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64C5"/>
                </a:solidFill>
              </a:rPr>
              <a:t>We started by talking to AI.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8F4E"/>
                </a:solidFill>
              </a:rPr>
              <a:t>Then we added AI into products.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6492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8324"/>
                </a:solidFill>
              </a:rPr>
              <a:t>Now we are learning to build products around AI.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498080" y="164592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0" y="21031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68"/>
                </a:solidFill>
              </a:rPr>
              <a:t>AI as architecture =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F3A68"/>
                </a:solidFill>
              </a:rPr>
              <a:t>model + harness + workflow + governance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48006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68"/>
                </a:solidFill>
              </a:rPr>
              <a:t>This is the foundation of AI-native development.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as Architecture — Harness Update</dc:title>
  <dc:subject>AI as Architecture with Agent Harness</dc:subject>
  <dc:creator>OpenAI</dc:creator>
  <cp:lastModifiedBy>OpenAI</cp:lastModifiedBy>
  <cp:revision>1</cp:revision>
  <dcterms:created xsi:type="dcterms:W3CDTF">2026-04-17T08:28:46Z</dcterms:created>
  <dcterms:modified xsi:type="dcterms:W3CDTF">2026-04-17T08:28:46Z</dcterms:modified>
</cp:coreProperties>
</file>