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15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658368"/>
            <a:ext cx="4160520" cy="5413248"/>
          </a:xfrm>
          <a:prstGeom prst="roundRect">
            <a:avLst>
              <a:gd name="adj" fmla="val 1758"/>
            </a:avLst>
          </a:prstGeom>
          <a:solidFill>
            <a:srgbClr val="173B63"/>
          </a:solidFill>
          <a:ln w="12700">
            <a:solidFill>
              <a:srgbClr val="4D6F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AI-Native Development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2029968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FF8"/>
                </a:solidFill>
              </a:rPr>
              <a:t>Building a simple agentic application with open tools and local models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2542032"/>
            <a:ext cx="1965960" cy="347472"/>
          </a:xfrm>
          <a:prstGeom prst="roundRect">
            <a:avLst>
              <a:gd name="adj" fmla="val 47368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56946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1-hour online workshop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2542032"/>
            <a:ext cx="1600200" cy="347472"/>
          </a:xfrm>
          <a:prstGeom prst="roundRect">
            <a:avLst>
              <a:gd name="adj" fmla="val 47368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07208" y="256946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Use-case driven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8848" y="2542032"/>
            <a:ext cx="2514600" cy="347472"/>
          </a:xfrm>
          <a:prstGeom prst="roundRect">
            <a:avLst>
              <a:gd name="adj" fmla="val 47368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8848" y="25694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paid subscription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5303520" cy="1993392"/>
          </a:xfrm>
          <a:prstGeom prst="roundRect">
            <a:avLst>
              <a:gd name="adj" fmla="val 367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50215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What participants will build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492861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/>
              <a:t>A local AI lab assistant for short technical assignments</a:t>
            </a:r>
          </a:p>
          <a:p>
            <a:pPr marL="177800" indent="-177800">
              <a:buSzPct val="100000"/>
              <a:buChar char="•"/>
            </a:pPr>
            <a:r>
              <a:rPr lang="en-US" sz="1550" dirty="0"/>
              <a:t>A workflow with Planner, Builder, and Reviewer roles</a:t>
            </a:r>
          </a:p>
          <a:p>
            <a:pPr marL="177800" indent="-177800">
              <a:buSzPct val="100000"/>
              <a:buChar char="•"/>
            </a:pPr>
            <a:r>
              <a:rPr lang="en-US" sz="1550" dirty="0"/>
              <a:t>A small Python app that runs with Ollama on student laptops</a:t>
            </a:r>
          </a:p>
        </p:txBody>
      </p:sp>
      <p:sp>
        <p:nvSpPr>
          <p:cNvPr id="14" name="Text 12"/>
          <p:cNvSpPr/>
          <p:nvPr/>
        </p:nvSpPr>
        <p:spPr>
          <a:xfrm>
            <a:off x="7543800" y="932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Workshop architecture preview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73568" y="201168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201168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46920" y="397764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73568" y="397764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52360" y="157276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52360" y="1572768"/>
            <a:ext cx="82296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53528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53528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Task →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0" y="157276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0" y="1572768"/>
            <a:ext cx="82296" cy="868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45168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45168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Plan → code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538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0" y="3538728"/>
            <a:ext cx="82296" cy="86868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45168" y="3703320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45168" y="405079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Code → gaps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52360" y="3538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52360" y="3538728"/>
            <a:ext cx="82296" cy="86868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53528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Ollama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53528" y="405079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Local model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79792" y="489204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26680" y="50840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Python • Streamlit/CLI • GitHub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/>
              <a:t>Open tools, fully reproducible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808" y="614476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Electrical and Computer Engineering students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614476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Workshop package / English slide 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82296" cy="114300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Format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Online, hands-on, use-case driven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Built around one simple but complete example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5968" y="1143000"/>
            <a:ext cx="82296" cy="1143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17136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Audience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7136" y="1655064"/>
            <a:ext cx="327660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ECE students with basic programming knowledge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Introductory to intermediate level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1856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91856" y="114300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93024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Cost model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3024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Open tools + local open models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No paid subscription required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269748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</a:rPr>
              <a:t>Core promise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8680" y="3273552"/>
            <a:ext cx="51206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033"/>
                </a:solidFill>
              </a:rPr>
              <a:t>Students will not just hear about AI-native development. They will see a small AI-native system, run it locally, and understand how prompts, workflows, agents, tools, and context fit together in practice.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89320" y="315468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429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57A6"/>
                </a:solidFill>
              </a:rPr>
              <a:t>Success looks like this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19" y="3730752"/>
            <a:ext cx="4817403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understand what AI-native development means.”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know the difference between a prompt, a workflow, and an agent.”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can run a small local prototype myself.”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75520" y="3657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457A6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9844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Welcome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0–5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Why AI-native development matters and what participants will build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7860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6324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3016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3016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Concepts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5–15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954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Prompt vs workflow vs agent; tools, context, and orchestration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1032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9496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6188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6188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Use case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15–20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AI lab assistant architecture and role definitions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4204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2668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DCE8F8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93608" y="114300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9360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6384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Hands-on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6384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20–50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7298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Run the app, inspect Planner / Builder / Reviewer outputs, test locally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57376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840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62532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62532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9556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Wrap-up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9556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50–60 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0470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What makes this AI-native and how to extend it after the session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560320" y="5532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One example, end to end: students see the complete lifecycle instead of isolated prompts.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use case: AI Lab Assistant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794760" cy="50292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</a:rPr>
              <a:t>Student input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3246120" cy="2971800"/>
          </a:xfrm>
          <a:prstGeom prst="roundRect">
            <a:avLst>
              <a:gd name="adj" fmla="val 1846"/>
            </a:avLst>
          </a:prstGeom>
          <a:solidFill>
            <a:srgbClr val="F8FAFE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2103120"/>
            <a:ext cx="29260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02033"/>
                </a:solidFill>
              </a:rPr>
              <a:t>“Build a Python program that reads sensor measurements from a CSV file, computes the average and standard deviation, and generates a simple plot.”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6"/>
                </a:solidFill>
              </a:rPr>
              <a:t>A compact example that is technical, familiar, and easy to run locally.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38928" y="1545336"/>
            <a:ext cx="384048" cy="384048"/>
          </a:xfrm>
          <a:prstGeom prst="ellipse">
            <a:avLst/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38928" y="1636776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5361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Understand the task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01353" y="1545335"/>
            <a:ext cx="3110523" cy="320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Requirement extraction from the assignment 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304288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38928" y="2432304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38928" y="2523744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Create a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01000" y="2432303"/>
            <a:ext cx="3112008" cy="326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Ordered implementation steps and assumptions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191256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3319272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38928" y="3410712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3101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Generate starter code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83880" y="3319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First-draft code and project structure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4078224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38928" y="4206240"/>
            <a:ext cx="384048" cy="384048"/>
          </a:xfrm>
          <a:prstGeom prst="ellipse">
            <a:avLst/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38928" y="4297680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19709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Review the output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183880" y="4206240"/>
            <a:ext cx="26560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Check coverage, gaps, and edge cases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965192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138928" y="5093208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5184648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50840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Suggest next steps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29415" y="5093208"/>
            <a:ext cx="328246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Concrete improvements students can implement next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prompt to workflow to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82296" cy="274320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A single instruction to the model.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Useful for one-shot tasks, but limited when the task has multiple stages.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82296" cy="2743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A predefined sequence of steps.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Best default choice when the application needs structure and predictability.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82296" cy="27432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2220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Agentic pattern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2220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Role-based components within a workflow.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Useful when different reasoning styles or tool access improve the result.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</a:rPr>
              <a:t>Key message: not everything needs an agent. Start with a workflow, then add roles only where they create real value.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5440680"/>
            <a:ext cx="82296" cy="77724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98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5952744"/>
            <a:ext cx="2999232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Breaks the task into requirements and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26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26280" y="5440680"/>
            <a:ext cx="82296" cy="7772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27448" y="5952744"/>
            <a:ext cx="288036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Produces starter code and a first draft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0" y="5440680"/>
            <a:ext cx="82296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56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56448" y="5952744"/>
            <a:ext cx="309067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Checks coverage, risks, and improvements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1720" y="3456432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00600" y="2304288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0600" y="4590288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69480" y="3456432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82296" cy="1417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User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Provides the assignment or short technical task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82296" cy="141732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2907791"/>
            <a:ext cx="1472184" cy="29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Coordinator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4728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Runs the workflow and passes outputs across roles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15000" y="1600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0" y="1600200"/>
            <a:ext cx="82296" cy="1417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16168" y="1764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16168" y="2112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Requirements + steps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15000" y="3886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15000" y="3886200"/>
            <a:ext cx="82296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16168" y="4050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16168" y="4398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Starter code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8388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82296" cy="1417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8504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8504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Coverage + improvements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104120" y="27432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04120" y="2743200"/>
            <a:ext cx="82296" cy="1417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05288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Output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305288" y="3255264"/>
            <a:ext cx="91440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Plan, code, review, next steps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1248" y="548640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7280" y="5650992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2033"/>
                </a:solidFill>
              </a:rPr>
              <a:t>Local execution stack: Python + Streamlit/CLI + Ollama + one local open model (for example Llama 3).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stack and local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82296" cy="256032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Tools used in the workshop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746504"/>
            <a:ext cx="333756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Python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Streamlit or CLI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GitHub repository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Ollama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One tested local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82296" cy="2560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3990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Why local 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1746504"/>
            <a:ext cx="292608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No paid subscription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Full reproducibility after the workshop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Students can experiment on their own laptops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Clearer focus on architecture, not vendor lock-in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9560" y="123444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09560" y="1234440"/>
            <a:ext cx="82296" cy="2560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0728" y="1399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Minimum participant setup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10728" y="1746504"/>
            <a:ext cx="320040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Python 3.10+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Git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VS Code or another editor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Ollama installed locally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Repo cloned before the session if possible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1" y="418107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Suggested commands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473682"/>
            <a:ext cx="4831081" cy="11407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5321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6"/>
                </a:solidFill>
              </a:rPr>
              <a:t>This can also be run as a CLI fallback if some student laptops struggle with a UI setup.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participants take away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1344168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463040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42646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What AI-native development means in practice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203704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2688" y="2313432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43230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Conceptual clarity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39572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The difference between prompts, workflows, and agents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172968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3282696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401568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Hands-on artifact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33649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A small local app with Planner, Builder, and Reviewer roles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142232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" y="4251960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" y="437083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confidence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433425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A reproducible stack based on open tools and local models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77240" y="5111496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2688" y="5221224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" y="5340096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53035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Clear directions for adding retrieval, testing, memory, or APIs later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6172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</a:rPr>
              <a:t>Recommended close: position the session as “a practical introduction to AI-native development through a small but complete role-based application built with open tools and local models.”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Chatbots to AI as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8288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A simple evolution story for AI-native development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2148840" cy="475488"/>
          </a:xfrm>
          <a:prstGeom prst="roundRect">
            <a:avLst>
              <a:gd name="adj" fmla="val 11538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29443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2148840" cy="475488"/>
          </a:xfrm>
          <a:prstGeom prst="roundRect">
            <a:avLst>
              <a:gd name="adj" fmla="val 11538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11296" y="29443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834640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71616" y="29443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03040"/>
                </a:solidFill>
              </a:rPr>
              <a:t>We started by talking to AI. 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203040"/>
                </a:solidFill>
              </a:rPr>
              <a:t>Then we started adding AI into products. 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203040"/>
                </a:solidFill>
              </a:rPr>
              <a:t>Now we are learning how to build products around AI.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458200" y="1005840"/>
            <a:ext cx="2926080" cy="4297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3252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1783080"/>
            <a:ext cx="23774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AI is moving from an interface layer to a systems design concern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Workflows, tools, context, and roles now matter as much as model choice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This is the foundation of AI-native development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Three-Layer AI Evolution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A practical way to frame how AI changes software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AF1FB"/>
          </a:solidFill>
          <a:ln w="12700">
            <a:solidFill>
              <a:srgbClr val="D9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Interface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Chatbots and assistants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Prompt -&gt; response interaction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Useful for Q&amp;A, summarization, guidance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DB3"/>
                </a:solidFill>
              </a:rPr>
              <a:t>AI helps users interact with information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AF6F1"/>
          </a:solidFill>
          <a:ln w="12700">
            <a:solidFill>
              <a:srgbClr val="D9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35424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Feature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Embedded into existing products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AI-assisted search, support, coding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Application remains mostly traditional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5A"/>
                </a:solidFill>
              </a:rPr>
              <a:t>AI helps products perform useful tasks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DF1E4"/>
          </a:solidFill>
          <a:ln w="12700">
            <a:solidFill>
              <a:srgbClr val="D9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19872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Architecture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56448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Workflows, agents, tools, context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Coordinator + specialized roles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Applications designed around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9872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7926"/>
                </a:solidFill>
              </a:rPr>
              <a:t>AI shapes how the whole system is built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Research Framing: Weights -&gt; Context -&gt; Harness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Based on arXiv:2604.08224 (April 2026)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Weights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</a:rPr>
              <a:t>Capability expected to live inside the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5196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</a:rPr>
              <a:t>More capability shifted into prompting and retrieved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Harness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040"/>
                </a:solidFill>
              </a:rPr>
              <a:t>Capability externalized into memory, skills, protocols, and orchestration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2152" y="23317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B7A"/>
                </a:solidFill>
              </a:rPr>
              <a:t>-&gt;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39128" y="23317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B7A"/>
                </a:solidFill>
              </a:rPr>
              <a:t>-&gt;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60120" y="475488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5010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We are moving from intelligence in the model to intelligence in the system around the model.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 | Research framing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“AI as Architecture”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What changes when AI becomes part of the system design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8FAFD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8FAFD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Design shifts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Operating shifts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single prompts to multi-step workflows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one assistant to specialized roles such as planner, builder, reviewer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isolated outputs to tools, memory, and governed execution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System quality depends on orchestration, not only on model quality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Competitive advantage shifts toward reusable skills and infrastructure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AI-native development becomes a software architecture problem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828800" y="5989320"/>
            <a:ext cx="8549640" cy="420624"/>
          </a:xfrm>
          <a:prstGeom prst="roundRect">
            <a:avLst>
              <a:gd name="adj" fmla="val 13043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6108192"/>
            <a:ext cx="8275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AI is no longer only an interface or a feature. It becomes a core design principle.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Use Case, Three Modes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Student Assignment Assistant: same task, different role for AI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21031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0360" y="1691640"/>
            <a:ext cx="260604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315468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1856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behavior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41080" y="1691640"/>
            <a:ext cx="27889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32520" y="18562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Meaning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2103120" cy="1097280"/>
          </a:xfrm>
          <a:prstGeom prst="rect">
            <a:avLst/>
          </a:prstGeom>
          <a:solidFill>
            <a:srgbClr val="EFF5FD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4597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Chatbot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880360" y="2240280"/>
            <a:ext cx="2606040" cy="1097280"/>
          </a:xfrm>
          <a:prstGeom prst="rect">
            <a:avLst/>
          </a:prstGeom>
          <a:solidFill>
            <a:srgbClr val="F9FBFE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71800" y="2459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03040"/>
                </a:solidFill>
              </a:rPr>
              <a:t>Student asks directly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0" y="2240280"/>
            <a:ext cx="3154680" cy="1097280"/>
          </a:xfrm>
          <a:prstGeom prst="rect">
            <a:avLst/>
          </a:prstGeom>
          <a:solidFill>
            <a:srgbClr val="F9FBFE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840" y="2459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03040"/>
                </a:solidFill>
              </a:rPr>
              <a:t>One answer with code or explanation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41080" y="2240280"/>
            <a:ext cx="2788920" cy="1097280"/>
          </a:xfrm>
          <a:prstGeom prst="rect">
            <a:avLst/>
          </a:prstGeom>
          <a:solidFill>
            <a:srgbClr val="EFF5FD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32520" y="245973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the interface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" y="3337560"/>
            <a:ext cx="2103120" cy="1097280"/>
          </a:xfrm>
          <a:prstGeom prst="rect">
            <a:avLst/>
          </a:prstGeom>
          <a:solidFill>
            <a:srgbClr val="EEF8F2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5570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Service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880360" y="3337560"/>
            <a:ext cx="2606040" cy="1097280"/>
          </a:xfrm>
          <a:prstGeom prst="rect">
            <a:avLst/>
          </a:prstGeom>
          <a:solidFill>
            <a:srgbClr val="FAFC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1800" y="355701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03040"/>
                </a:solidFill>
              </a:rPr>
              <a:t>App calls an LLM feature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0" y="3337560"/>
            <a:ext cx="3154680" cy="1097280"/>
          </a:xfrm>
          <a:prstGeom prst="rect">
            <a:avLst/>
          </a:prstGeom>
          <a:solidFill>
            <a:srgbClr val="FAFCFB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355701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03040"/>
                </a:solidFill>
              </a:rPr>
              <a:t>Generate starter code inside a portal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641080" y="3337560"/>
            <a:ext cx="2788920" cy="1097280"/>
          </a:xfrm>
          <a:prstGeom prst="rect">
            <a:avLst/>
          </a:prstGeom>
          <a:solidFill>
            <a:srgbClr val="EEF8F2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32520" y="355701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a feature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4434840"/>
            <a:ext cx="2103120" cy="1097280"/>
          </a:xfrm>
          <a:prstGeom prst="rect">
            <a:avLst/>
          </a:prstGeom>
          <a:solidFill>
            <a:srgbClr val="FDF3E8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6542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Architecture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2880360" y="4434840"/>
            <a:ext cx="2606040" cy="1097280"/>
          </a:xfrm>
          <a:prstGeom prst="rect">
            <a:avLst/>
          </a:prstGeom>
          <a:solidFill>
            <a:srgbClr val="FFFDFC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71800" y="46542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03040"/>
                </a:solidFill>
              </a:rPr>
              <a:t>Workflow coordinates roles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486400" y="4434840"/>
            <a:ext cx="3154680" cy="1097280"/>
          </a:xfrm>
          <a:prstGeom prst="rect">
            <a:avLst/>
          </a:prstGeom>
          <a:solidFill>
            <a:srgbClr val="FFFDFC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77840" y="465429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03040"/>
                </a:solidFill>
              </a:rPr>
              <a:t>Planner -&gt; Builder -&gt; Reviewer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641080" y="4434840"/>
            <a:ext cx="2788920" cy="1097280"/>
          </a:xfrm>
          <a:prstGeom prst="rect">
            <a:avLst/>
          </a:prstGeom>
          <a:solidFill>
            <a:srgbClr val="FDF3E8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32520" y="46542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the system logic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97280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7926"/>
                </a:solidFill>
              </a:rPr>
              <a:t>The use case stays the same. What changes is how much of the system is designed around AI.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325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03040"/>
                </a:solidFill>
              </a:rPr>
              <a:t>The future is not just software with AI inside it.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203040"/>
                </a:solidFill>
              </a:rPr>
              <a:t>It is software designed around AI from the start.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79" y="1234440"/>
            <a:ext cx="3761935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4964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Takeaways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73567" y="2084832"/>
            <a:ext cx="3116463" cy="206513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Interface -&gt; Feature -&gt; Architecture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Weights -&gt; Context -&gt; Harness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AI-native development is a systems discipline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58064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Research anchor: Zhou et al., arXiv:2604.08224 (2026)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8596"/>
                </a:solidFill>
              </a:rPr>
              <a:t>Closing slide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AI Chatbots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AI as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542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hands-on comparison: chatbot vs service vs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BFF"/>
                </a:solidFill>
              </a:rPr>
              <a:t>Same use case: Student Assignment Assistant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46520" y="2578608"/>
            <a:ext cx="4526280" cy="0"/>
          </a:xfrm>
          <a:prstGeom prst="line">
            <a:avLst/>
          </a:prstGeom>
          <a:noFill/>
          <a:ln w="31750">
            <a:solidFill>
              <a:srgbClr val="D8E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63640" y="2450592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72200" y="1828800"/>
            <a:ext cx="1188720" cy="384048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interface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2450592"/>
            <a:ext cx="182880" cy="1828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440" y="1828800"/>
            <a:ext cx="1188720" cy="384048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feature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104120" y="24505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12680" y="1828800"/>
            <a:ext cx="16002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system design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355080" y="370332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020"/>
                </a:solidFill>
              </a:rPr>
              <a:t>We started by talking to AI.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020"/>
                </a:solidFill>
              </a:rPr>
              <a:t>Then we added AI into products.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020"/>
                </a:solidFill>
              </a:rPr>
              <a:t>Now we are designing products around AI.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Three-Layer AI 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418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 simple way to explain the transition from chatbot to AI-native development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36592" y="1353312"/>
            <a:ext cx="6812280" cy="310896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AI as Interface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736592" y="170078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2F6B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talk to AI directly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Chatbots, Q&amp;A, summarization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fast guidance and interaction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6592" y="2816352"/>
            <a:ext cx="6812280" cy="310896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 as Feature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736592" y="316382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18A957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embedded into an existing product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Generate, search, recommend, assist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improve a workflow or screen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36592" y="4279392"/>
            <a:ext cx="6812280" cy="310896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AI as Architecture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736592" y="462686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shapes the system design from the start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Workflows, agents, tools, orchestration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adaptive, intent-driven software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9D83BD-89FC-37CC-0717-7C0801A92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42942"/>
            <a:ext cx="3734124" cy="54487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Example: Same Task, Three AI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418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Use case: “Build a Python program that reads sensor CSV data, computes average/std, and plots the result.”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337560" cy="438912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Chatbot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interface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asks one prompt directly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returns explanation + sample code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ideation and quick help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→ Response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133088" y="1371600"/>
            <a:ext cx="3337560" cy="438912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33088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A9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a feature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33088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8A957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uses an existing app or portal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 calls an LLM for one specific feature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enhancement inside a product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4361688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33088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logic → AI call → Output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763256" y="1371600"/>
            <a:ext cx="333756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63256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system design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63256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Planner extracts requirements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Builder generates starter code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Reviewer checks gaps and improvements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7991856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63256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Planner → Builder → Reviewer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1554480" y="5989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1020"/>
                </a:solidFill>
              </a:rPr>
              <a:t>The use case stays the same. What changes is the role AI plays in the system.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entering the phase of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2369" y="1344246"/>
            <a:ext cx="5783385" cy="117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/>
              <a:t>The next stage of AI is not just using AI in products,</a:t>
            </a:r>
          </a:p>
          <a:p>
            <a:pPr marL="0" indent="0">
              <a:buNone/>
            </a:pPr>
            <a:r>
              <a:rPr lang="en-US" sz="2000" dirty="0"/>
              <a:t>but building products around AI.</a:t>
            </a:r>
          </a:p>
        </p:txBody>
      </p:sp>
      <p:sp>
        <p:nvSpPr>
          <p:cNvPr id="4" name="Text 2"/>
          <p:cNvSpPr/>
          <p:nvPr/>
        </p:nvSpPr>
        <p:spPr>
          <a:xfrm>
            <a:off x="6537960" y="1005840"/>
            <a:ext cx="4480560" cy="777240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single prompts to workflows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03720" y="2103120"/>
            <a:ext cx="4114800" cy="777240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one assistant to specialized roles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69480" y="3200400"/>
            <a:ext cx="3749040" cy="7772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outputs to tools and orchestration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5240" y="4297680"/>
            <a:ext cx="3383280" cy="7772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static logic to adaptive systems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C7FF"/>
                </a:solidFill>
              </a:rPr>
              <a:t>Interface  →  Feature  → 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Closing message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1782</Words>
  <Application>Microsoft Office PowerPoint</Application>
  <PresentationFormat>Widescreen</PresentationFormat>
  <Paragraphs>318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Development in Practice</dc:title>
  <dc:subject>AI-Native Development Workshop</dc:subject>
  <dc:creator>OpenAI</dc:creator>
  <cp:lastModifiedBy>Michail Nanos</cp:lastModifiedBy>
  <cp:revision>9</cp:revision>
  <dcterms:created xsi:type="dcterms:W3CDTF">2026-04-02T07:39:00Z</dcterms:created>
  <dcterms:modified xsi:type="dcterms:W3CDTF">2026-05-07T14:13:23Z</dcterms:modified>
</cp:coreProperties>
</file>